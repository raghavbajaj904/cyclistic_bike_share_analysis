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8" r:id="rId12"/>
  </p:sldIdLst>
  <p:sldSz cx="12192000" cy="6858000"/>
  <p:notesSz cx="6858000" cy="9144000"/>
  <p:embeddedFontLst>
    <p:embeddedFont>
      <p:font typeface="Plus Jakarta Sans"/>
      <p:bold r:id="rId13"/>
    </p:embeddedFont>
    <p:embeddedFont>
      <p:font typeface="Space Grotesk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12CE5F-0991-42BC-8D28-0D83B879E9C4}" v="18" dt="2026-09-17T17:58:31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 Bajaj" userId="b697db162de8613d" providerId="LiveId" clId="{6099F8C4-2527-4AD0-A954-BA0ABC2B10C4}"/>
    <pc:docChg chg="undo custSel addSld delSld modSld modMainMaster">
      <pc:chgData name="Raghav Bajaj" userId="b697db162de8613d" providerId="LiveId" clId="{6099F8C4-2527-4AD0-A954-BA0ABC2B10C4}" dt="2026-09-17T17:59:48.983" v="190" actId="1038"/>
      <pc:docMkLst>
        <pc:docMk/>
      </pc:docMkLst>
      <pc:sldChg chg="addSp delSp modSp mod setBg">
        <pc:chgData name="Raghav Bajaj" userId="b697db162de8613d" providerId="LiveId" clId="{6099F8C4-2527-4AD0-A954-BA0ABC2B10C4}" dt="2026-09-17T17:50:12.078" v="91"/>
        <pc:sldMkLst>
          <pc:docMk/>
          <pc:sldMk cId="0" sldId="256"/>
        </pc:sldMkLst>
        <pc:spChg chg="add del mod">
          <ac:chgData name="Raghav Bajaj" userId="b697db162de8613d" providerId="LiveId" clId="{6099F8C4-2527-4AD0-A954-BA0ABC2B10C4}" dt="2026-09-17T17:48:43.759" v="87"/>
          <ac:spMkLst>
            <pc:docMk/>
            <pc:sldMk cId="0" sldId="256"/>
            <ac:spMk id="4" creationId="{C63EC0DE-8772-CB4D-73B4-0932A4E248B5}"/>
          </ac:spMkLst>
        </pc:spChg>
      </pc:sldChg>
      <pc:sldChg chg="addSp modSp mod setBg">
        <pc:chgData name="Raghav Bajaj" userId="b697db162de8613d" providerId="LiveId" clId="{6099F8C4-2527-4AD0-A954-BA0ABC2B10C4}" dt="2026-09-17T17:50:12.078" v="91"/>
        <pc:sldMkLst>
          <pc:docMk/>
          <pc:sldMk cId="0" sldId="257"/>
        </pc:sldMkLst>
        <pc:spChg chg="mod">
          <ac:chgData name="Raghav Bajaj" userId="b697db162de8613d" providerId="LiveId" clId="{6099F8C4-2527-4AD0-A954-BA0ABC2B10C4}" dt="2026-09-17T17:44:07.650" v="32" actId="1038"/>
          <ac:spMkLst>
            <pc:docMk/>
            <pc:sldMk cId="0" sldId="257"/>
            <ac:spMk id="7" creationId="{00000000-0000-0000-0000-000000000000}"/>
          </ac:spMkLst>
        </pc:spChg>
        <pc:spChg chg="mod">
          <ac:chgData name="Raghav Bajaj" userId="b697db162de8613d" providerId="LiveId" clId="{6099F8C4-2527-4AD0-A954-BA0ABC2B10C4}" dt="2026-09-17T17:42:42.609" v="1" actId="20577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Raghav Bajaj" userId="b697db162de8613d" providerId="LiveId" clId="{6099F8C4-2527-4AD0-A954-BA0ABC2B10C4}" dt="2026-09-17T17:44:31.296" v="64" actId="20577"/>
          <ac:spMkLst>
            <pc:docMk/>
            <pc:sldMk cId="0" sldId="257"/>
            <ac:spMk id="20" creationId="{432D31A1-2A22-E690-7370-E749185896D0}"/>
          </ac:spMkLst>
        </pc:spChg>
      </pc:sldChg>
      <pc:sldChg chg="setBg">
        <pc:chgData name="Raghav Bajaj" userId="b697db162de8613d" providerId="LiveId" clId="{6099F8C4-2527-4AD0-A954-BA0ABC2B10C4}" dt="2026-09-17T17:50:12.078" v="91"/>
        <pc:sldMkLst>
          <pc:docMk/>
          <pc:sldMk cId="0" sldId="258"/>
        </pc:sldMkLst>
      </pc:sldChg>
      <pc:sldChg chg="setBg">
        <pc:chgData name="Raghav Bajaj" userId="b697db162de8613d" providerId="LiveId" clId="{6099F8C4-2527-4AD0-A954-BA0ABC2B10C4}" dt="2026-09-17T17:50:12.078" v="91"/>
        <pc:sldMkLst>
          <pc:docMk/>
          <pc:sldMk cId="0" sldId="260"/>
        </pc:sldMkLst>
      </pc:sldChg>
      <pc:sldChg chg="setBg">
        <pc:chgData name="Raghav Bajaj" userId="b697db162de8613d" providerId="LiveId" clId="{6099F8C4-2527-4AD0-A954-BA0ABC2B10C4}" dt="2026-09-17T17:50:12.078" v="91"/>
        <pc:sldMkLst>
          <pc:docMk/>
          <pc:sldMk cId="0" sldId="261"/>
        </pc:sldMkLst>
      </pc:sldChg>
      <pc:sldChg chg="setBg">
        <pc:chgData name="Raghav Bajaj" userId="b697db162de8613d" providerId="LiveId" clId="{6099F8C4-2527-4AD0-A954-BA0ABC2B10C4}" dt="2026-09-17T17:50:12.078" v="91"/>
        <pc:sldMkLst>
          <pc:docMk/>
          <pc:sldMk cId="0" sldId="262"/>
        </pc:sldMkLst>
      </pc:sldChg>
      <pc:sldChg chg="setBg">
        <pc:chgData name="Raghav Bajaj" userId="b697db162de8613d" providerId="LiveId" clId="{6099F8C4-2527-4AD0-A954-BA0ABC2B10C4}" dt="2026-09-17T17:50:12.078" v="91"/>
        <pc:sldMkLst>
          <pc:docMk/>
          <pc:sldMk cId="0" sldId="263"/>
        </pc:sldMkLst>
      </pc:sldChg>
      <pc:sldChg chg="modSp mod setBg">
        <pc:chgData name="Raghav Bajaj" userId="b697db162de8613d" providerId="LiveId" clId="{6099F8C4-2527-4AD0-A954-BA0ABC2B10C4}" dt="2026-09-17T17:50:12.078" v="91"/>
        <pc:sldMkLst>
          <pc:docMk/>
          <pc:sldMk cId="0" sldId="264"/>
        </pc:sldMkLst>
        <pc:spChg chg="mod">
          <ac:chgData name="Raghav Bajaj" userId="b697db162de8613d" providerId="LiveId" clId="{6099F8C4-2527-4AD0-A954-BA0ABC2B10C4}" dt="2026-09-17T17:45:04.279" v="75" actId="20577"/>
          <ac:spMkLst>
            <pc:docMk/>
            <pc:sldMk cId="0" sldId="264"/>
            <ac:spMk id="17" creationId="{00000000-0000-0000-0000-000000000000}"/>
          </ac:spMkLst>
        </pc:spChg>
      </pc:sldChg>
      <pc:sldChg chg="setBg">
        <pc:chgData name="Raghav Bajaj" userId="b697db162de8613d" providerId="LiveId" clId="{6099F8C4-2527-4AD0-A954-BA0ABC2B10C4}" dt="2026-09-17T17:50:12.078" v="91"/>
        <pc:sldMkLst>
          <pc:docMk/>
          <pc:sldMk cId="0" sldId="265"/>
        </pc:sldMkLst>
      </pc:sldChg>
      <pc:sldChg chg="delSp modSp add del mod setBg">
        <pc:chgData name="Raghav Bajaj" userId="b697db162de8613d" providerId="LiveId" clId="{6099F8C4-2527-4AD0-A954-BA0ABC2B10C4}" dt="2026-09-17T17:59:48.983" v="190" actId="1038"/>
        <pc:sldMkLst>
          <pc:docMk/>
          <pc:sldMk cId="0" sldId="268"/>
        </pc:sldMkLst>
        <pc:spChg chg="del">
          <ac:chgData name="Raghav Bajaj" userId="b697db162de8613d" providerId="LiveId" clId="{6099F8C4-2527-4AD0-A954-BA0ABC2B10C4}" dt="2026-09-17T17:58:43.816" v="104" actId="478"/>
          <ac:spMkLst>
            <pc:docMk/>
            <pc:sldMk cId="0" sldId="268"/>
            <ac:spMk id="10" creationId="{00000000-0000-0000-0000-000000000000}"/>
          </ac:spMkLst>
        </pc:spChg>
        <pc:spChg chg="mod">
          <ac:chgData name="Raghav Bajaj" userId="b697db162de8613d" providerId="LiveId" clId="{6099F8C4-2527-4AD0-A954-BA0ABC2B10C4}" dt="2026-09-17T17:59:46.111" v="174" actId="1076"/>
          <ac:spMkLst>
            <pc:docMk/>
            <pc:sldMk cId="0" sldId="268"/>
            <ac:spMk id="11" creationId="{00000000-0000-0000-0000-000000000000}"/>
          </ac:spMkLst>
        </pc:spChg>
        <pc:picChg chg="del">
          <ac:chgData name="Raghav Bajaj" userId="b697db162de8613d" providerId="LiveId" clId="{6099F8C4-2527-4AD0-A954-BA0ABC2B10C4}" dt="2026-09-17T17:58:45.923" v="105" actId="478"/>
          <ac:picMkLst>
            <pc:docMk/>
            <pc:sldMk cId="0" sldId="268"/>
            <ac:picMk id="6" creationId="{00000000-0000-0000-0000-000000000000}"/>
          </ac:picMkLst>
        </pc:picChg>
        <pc:picChg chg="mod">
          <ac:chgData name="Raghav Bajaj" userId="b697db162de8613d" providerId="LiveId" clId="{6099F8C4-2527-4AD0-A954-BA0ABC2B10C4}" dt="2026-09-17T17:59:48.983" v="190" actId="1038"/>
          <ac:picMkLst>
            <pc:docMk/>
            <pc:sldMk cId="0" sldId="268"/>
            <ac:picMk id="7" creationId="{00000000-0000-0000-0000-000000000000}"/>
          </ac:picMkLst>
        </pc:picChg>
      </pc:sldChg>
      <pc:sldChg chg="del">
        <pc:chgData name="Raghav Bajaj" userId="b697db162de8613d" providerId="LiveId" clId="{6099F8C4-2527-4AD0-A954-BA0ABC2B10C4}" dt="2026-09-17T17:46:38.798" v="76" actId="47"/>
        <pc:sldMkLst>
          <pc:docMk/>
          <pc:sldMk cId="1046454173" sldId="268"/>
        </pc:sldMkLst>
      </pc:sldChg>
      <pc:sldChg chg="add del setBg">
        <pc:chgData name="Raghav Bajaj" userId="b697db162de8613d" providerId="LiveId" clId="{6099F8C4-2527-4AD0-A954-BA0ABC2B10C4}" dt="2026-09-17T17:54:44.665" v="102" actId="47"/>
        <pc:sldMkLst>
          <pc:docMk/>
          <pc:sldMk cId="0" sldId="270"/>
        </pc:sldMkLst>
      </pc:sldChg>
      <pc:sldChg chg="addSp delSp modSp new del mod">
        <pc:chgData name="Raghav Bajaj" userId="b697db162de8613d" providerId="LiveId" clId="{6099F8C4-2527-4AD0-A954-BA0ABC2B10C4}" dt="2026-09-17T17:50:37.644" v="95" actId="47"/>
        <pc:sldMkLst>
          <pc:docMk/>
          <pc:sldMk cId="4056605235" sldId="270"/>
        </pc:sldMkLst>
        <pc:spChg chg="add del mod">
          <ac:chgData name="Raghav Bajaj" userId="b697db162de8613d" providerId="LiveId" clId="{6099F8C4-2527-4AD0-A954-BA0ABC2B10C4}" dt="2026-09-17T17:47:22.632" v="80"/>
          <ac:spMkLst>
            <pc:docMk/>
            <pc:sldMk cId="4056605235" sldId="270"/>
            <ac:spMk id="2" creationId="{22B4D9EF-CDDC-AA7B-9147-A772CDEA112F}"/>
          </ac:spMkLst>
        </pc:spChg>
      </pc:sldChg>
      <pc:sldChg chg="add del">
        <pc:chgData name="Raghav Bajaj" userId="b697db162de8613d" providerId="LiveId" clId="{6099F8C4-2527-4AD0-A954-BA0ABC2B10C4}" dt="2026-09-17T17:50:38.443" v="96" actId="47"/>
        <pc:sldMkLst>
          <pc:docMk/>
          <pc:sldMk cId="3513765710" sldId="271"/>
        </pc:sldMkLst>
      </pc:sldChg>
      <pc:sldChg chg="add del setBg">
        <pc:chgData name="Raghav Bajaj" userId="b697db162de8613d" providerId="LiveId" clId="{6099F8C4-2527-4AD0-A954-BA0ABC2B10C4}" dt="2026-09-17T17:52:04.539" v="100" actId="47"/>
        <pc:sldMkLst>
          <pc:docMk/>
          <pc:sldMk cId="0" sldId="272"/>
        </pc:sldMkLst>
      </pc:sldChg>
      <pc:sldChg chg="add del setBg">
        <pc:chgData name="Raghav Bajaj" userId="b697db162de8613d" providerId="LiveId" clId="{6099F8C4-2527-4AD0-A954-BA0ABC2B10C4}" dt="2026-09-17T17:50:59.449" v="99" actId="47"/>
        <pc:sldMkLst>
          <pc:docMk/>
          <pc:sldMk cId="0" sldId="273"/>
        </pc:sldMkLst>
      </pc:sldChg>
      <pc:sldMasterChg chg="setBg">
        <pc:chgData name="Raghav Bajaj" userId="b697db162de8613d" providerId="LiveId" clId="{6099F8C4-2527-4AD0-A954-BA0ABC2B10C4}" dt="2026-09-17T17:50:12.078" v="91"/>
        <pc:sldMasterMkLst>
          <pc:docMk/>
          <pc:sldMasterMk cId="2209977519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5467350"/>
            <a:ext cx="105156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8200" y="5467350"/>
            <a:ext cx="105156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200" y="1973609"/>
            <a:ext cx="8601075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 dirty="0" err="1">
                <a:solidFill>
                  <a:srgbClr val="F8FAFC"/>
                </a:solidFill>
                <a:latin typeface="Plus Jakarta Sans"/>
              </a:rPr>
              <a:t>Cyclistic</a:t>
            </a:r>
            <a:r>
              <a:rPr sz="4350" b="1" i="0" u="none" dirty="0">
                <a:solidFill>
                  <a:srgbClr val="F8FAFC"/>
                </a:solidFill>
                <a:latin typeface="Plus Jakarta Sans"/>
              </a:rPr>
              <a:t> Bike Share Behavioral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17540"/>
            <a:ext cx="65722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Unlocking rider patterns, usage differences, and strategic conversion pathways between casual riders and annual 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743575"/>
            <a:ext cx="2071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934075"/>
            <a:ext cx="2071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6.04M Total Rides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750" y="5743575"/>
            <a:ext cx="3440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CORE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50" y="5934075"/>
            <a:ext cx="34409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Casual to Member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2675" y="5743575"/>
            <a:ext cx="3309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DATASET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2675" y="5934075"/>
            <a:ext cx="175625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12-Month</a:t>
            </a:r>
            <a:r>
              <a:rPr lang="en-IN" sz="1500" b="1" i="0" u="none" dirty="0">
                <a:solidFill>
                  <a:srgbClr val="F8FAFC"/>
                </a:solidFill>
                <a:latin typeface="Plus Jakarta Sans"/>
              </a:rPr>
              <a:t>s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lang="en-IN" sz="1500" b="1" i="0" u="none" dirty="0">
                <a:solidFill>
                  <a:srgbClr val="F8FAFC"/>
                </a:solidFill>
                <a:latin typeface="Plus Jakarta Sans"/>
              </a:rPr>
              <a:t>Wide </a:t>
            </a:r>
            <a:r>
              <a:rPr sz="1500" b="1" i="0" u="none" dirty="0">
                <a:solidFill>
                  <a:srgbClr val="F8FAFC"/>
                </a:solidFill>
                <a:latin typeface="Plus Jakarta Sans"/>
              </a:rPr>
              <a:t>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909887"/>
            <a:ext cx="2533650" cy="2009775"/>
          </a:xfrm>
          <a:prstGeom prst="roundRect">
            <a:avLst>
              <a:gd name="adj" fmla="val 75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48050" y="2909887"/>
            <a:ext cx="2533650" cy="2009775"/>
          </a:xfrm>
          <a:prstGeom prst="roundRect">
            <a:avLst>
              <a:gd name="adj" fmla="val 7582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09887"/>
            <a:ext cx="2533650" cy="2009775"/>
          </a:xfrm>
          <a:prstGeom prst="roundRect">
            <a:avLst>
              <a:gd name="adj" fmla="val 75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72550" y="2909887"/>
            <a:ext cx="2533650" cy="2009775"/>
          </a:xfrm>
          <a:prstGeom prst="roundRect">
            <a:avLst>
              <a:gd name="adj" fmla="val 75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1037" y="683463"/>
            <a:ext cx="3890424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Wide Volume &amp;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224212"/>
            <a:ext cx="2476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TOTAL ANNUAL RIDES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509962"/>
            <a:ext cx="2476500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0F172A"/>
                </a:solidFill>
                <a:latin typeface="Space Grotesk"/>
              </a:rPr>
              <a:t>6.04M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243387"/>
            <a:ext cx="20764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125" dirty="0">
                <a:solidFill>
                  <a:srgbClr val="475569"/>
                </a:solidFill>
                <a:latin typeface="Plus Jakarta Sans"/>
              </a:rPr>
              <a:t>W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ide adoption across all stations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4275" y="3224212"/>
            <a:ext cx="2476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CASUAL RIDES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275" y="3509962"/>
            <a:ext cx="2476500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DC2626"/>
                </a:solidFill>
                <a:latin typeface="Space Grotesk"/>
              </a:rPr>
              <a:t>2.15M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275" y="4243387"/>
            <a:ext cx="20764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991B1B"/>
                </a:solidFill>
                <a:latin typeface="Plus Jakarta Sans"/>
              </a:rPr>
              <a:t>35.63% share </a:t>
            </a:r>
            <a:r>
              <a:rPr lang="en-IN" sz="1125" dirty="0">
                <a:solidFill>
                  <a:srgbClr val="991B1B"/>
                </a:solidFill>
                <a:latin typeface="Plus Jakarta Sans"/>
              </a:rPr>
              <a:t>in total rides</a:t>
            </a:r>
            <a:endParaRPr sz="1125" b="0" i="0" u="none" dirty="0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86525" y="3224212"/>
            <a:ext cx="2476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MEMBER RIDES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509962"/>
            <a:ext cx="2476500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0F172A"/>
                </a:solidFill>
                <a:latin typeface="Space Grotesk"/>
              </a:rPr>
              <a:t>3.89M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243387"/>
            <a:ext cx="20764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64.37% of </a:t>
            </a:r>
            <a:r>
              <a:rPr lang="en-IN" sz="1125" dirty="0">
                <a:solidFill>
                  <a:srgbClr val="475569"/>
                </a:solidFill>
                <a:latin typeface="Plus Jakarta Sans"/>
              </a:rPr>
              <a:t>share in total rides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48775" y="3224212"/>
            <a:ext cx="2476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AVERAGE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509962"/>
            <a:ext cx="2228174" cy="6232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 dirty="0">
                <a:solidFill>
                  <a:srgbClr val="0F172A"/>
                </a:solidFill>
                <a:latin typeface="Space Grotesk"/>
              </a:rPr>
              <a:t>15.55m</a:t>
            </a:r>
            <a:r>
              <a:rPr lang="en-IN" sz="4050" b="1" i="0" u="none" dirty="0">
                <a:solidFill>
                  <a:srgbClr val="0F172A"/>
                </a:solidFill>
                <a:latin typeface="Space Grotesk"/>
              </a:rPr>
              <a:t>ins</a:t>
            </a:r>
            <a:endParaRPr sz="405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48775" y="4243387"/>
            <a:ext cx="207645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Average</a:t>
            </a:r>
            <a:r>
              <a:rPr lang="en-IN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trip 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2D31A1-2A22-E690-7370-E749185896D0}"/>
              </a:ext>
            </a:extLst>
          </p:cNvPr>
          <p:cNvSpPr txBox="1"/>
          <p:nvPr/>
        </p:nvSpPr>
        <p:spPr>
          <a:xfrm>
            <a:off x="609600" y="457200"/>
            <a:ext cx="144110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b="1" i="0" u="none" dirty="0">
                <a:solidFill>
                  <a:srgbClr val="EF4444"/>
                </a:solidFill>
                <a:latin typeface="Space Grotesk"/>
              </a:rPr>
              <a:t>Key Performance Indicators</a:t>
            </a:r>
            <a:endParaRPr sz="975" b="1" i="0" u="none" dirty="0">
              <a:solidFill>
                <a:srgbClr val="EF4444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22790" y="2017662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2790" y="3291929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22790" y="4566195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2790" y="2017662"/>
            <a:ext cx="38100" cy="108376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22790" y="3291929"/>
            <a:ext cx="38100" cy="108376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22790" y="4566195"/>
            <a:ext cx="38100" cy="108376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604962"/>
            <a:ext cx="29718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DASHBOARD REVEAL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Rider Share and Fleet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490" y="2208162"/>
            <a:ext cx="46025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Ride Share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490" y="2484387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Members comprise 64.37% of trips; casual riders represent 35.63% of all volume.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490" y="3482429"/>
            <a:ext cx="46025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8.8 Minute Duration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490" y="3758654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Casual trips average 21.2 minutes vs. 12.4 minutes for members.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490" y="4756695"/>
            <a:ext cx="46025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Dominance of Electric Bikes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490" y="5032920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71.53% of casual riders and 67.10% of members prefer electric bikes.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8142299-AF5B-E340-A11F-9EE0BB5F4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604962"/>
            <a:ext cx="6408000" cy="4322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22790" y="1998612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22790" y="3291929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22790" y="4585245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2790" y="1998612"/>
            <a:ext cx="38100" cy="108376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22790" y="3291929"/>
            <a:ext cx="38100" cy="108376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22790" y="4585245"/>
            <a:ext cx="38100" cy="108376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604962"/>
            <a:ext cx="37909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TEMPORAL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Usage Cycles Across Days and Seasons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490" y="2189112"/>
            <a:ext cx="80457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Peak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490" y="2465337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Member rides peak at 8:00 AM and 5:00 PM; casual demand climbs gradually to 5:00 PM.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490" y="3482429"/>
            <a:ext cx="46025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Weekend vs. Weekday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490" y="3758654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Casual activity spikes on Saturday (21.26%), while member rides lead on Monday (13.86%).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490" y="4775745"/>
            <a:ext cx="46025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Mid-Year Summer Crest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490" y="5051970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Both segments crest in July before experiencing a steady decline into December.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B7D83E-4D0B-A10C-BFD6-604AB784E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3" y="1604961"/>
            <a:ext cx="6528063" cy="435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481262"/>
            <a:ext cx="3403550" cy="2762250"/>
          </a:xfrm>
          <a:prstGeom prst="roundRect">
            <a:avLst>
              <a:gd name="adj" fmla="val 48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390775"/>
            <a:ext cx="3403550" cy="2943225"/>
          </a:xfrm>
          <a:prstGeom prst="roundRect">
            <a:avLst>
              <a:gd name="adj" fmla="val 4530"/>
            </a:avLst>
          </a:prstGeom>
          <a:solidFill>
            <a:srgbClr val="FFF5F5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390775"/>
            <a:ext cx="3403550" cy="2943225"/>
          </a:xfrm>
          <a:prstGeom prst="roundRect">
            <a:avLst>
              <a:gd name="adj" fmla="val 45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1075" y="4138612"/>
            <a:ext cx="281300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89425" y="4048125"/>
            <a:ext cx="28130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97775" y="4048125"/>
            <a:ext cx="28130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1075" y="4138612"/>
            <a:ext cx="281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89425" y="4048125"/>
            <a:ext cx="28130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97775" y="4048125"/>
            <a:ext cx="281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83845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425" y="2747962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775" y="2747962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WEEKDAY VS WEEKEND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52475"/>
            <a:ext cx="464396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Weekly </a:t>
            </a:r>
            <a:r>
              <a:rPr lang="en-IN" sz="2400" b="1" dirty="0">
                <a:solidFill>
                  <a:srgbClr val="0F172A"/>
                </a:solidFill>
                <a:latin typeface="Plus Jakarta Sans"/>
              </a:rPr>
              <a:t>rides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&amp;</a:t>
            </a:r>
            <a:r>
              <a:rPr lang="en-IN"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Schedule Divergence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" y="2833687"/>
            <a:ext cx="19002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Weekday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262312"/>
            <a:ext cx="3516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Member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3433762"/>
            <a:ext cx="35162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Space Grotesk"/>
              </a:rPr>
              <a:t>76.59%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4300537"/>
            <a:ext cx="3516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DC2626"/>
                </a:solidFill>
                <a:latin typeface="Plus Jakarta Sans"/>
              </a:rPr>
              <a:t>Casual Volume: </a:t>
            </a:r>
            <a:r>
              <a:rPr sz="1050" b="1" i="0" u="none">
                <a:solidFill>
                  <a:srgbClr val="DC2626"/>
                </a:solidFill>
                <a:latin typeface="Plus Jakarta Sans"/>
              </a:rPr>
              <a:t>62.13%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4529137"/>
            <a:ext cx="29082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Members utilize bikes heavily for regular Monday–Friday.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0900" y="2743200"/>
            <a:ext cx="19002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lus Jakarta Sans"/>
              </a:rPr>
              <a:t>Weekend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9425" y="3171825"/>
            <a:ext cx="3516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DC2626"/>
                </a:solidFill>
                <a:latin typeface="Plus Jakarta Sans"/>
              </a:rPr>
              <a:t>Casual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9425" y="3343275"/>
            <a:ext cx="35162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DC2626"/>
                </a:solidFill>
                <a:latin typeface="Space Grotesk"/>
              </a:rPr>
              <a:t>37.87%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9425" y="4210050"/>
            <a:ext cx="3516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Member Volume: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23.41%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9425" y="4438650"/>
            <a:ext cx="2908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Casual weekend share increases significantly with Saturday peaking at 21.26%.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0675" y="2743200"/>
            <a:ext cx="22627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Hourly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7775" y="3171825"/>
            <a:ext cx="3516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Member Bimodal Surge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7775" y="3343275"/>
            <a:ext cx="2693045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F172A"/>
                </a:solidFill>
                <a:latin typeface="Space Grotesk"/>
              </a:rPr>
              <a:t>8</a:t>
            </a:r>
            <a:r>
              <a:rPr lang="en-IN" sz="33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300" b="1" i="0" u="none" dirty="0">
                <a:solidFill>
                  <a:srgbClr val="0F172A"/>
                </a:solidFill>
                <a:latin typeface="Space Grotesk"/>
              </a:rPr>
              <a:t>a</a:t>
            </a:r>
            <a:r>
              <a:rPr lang="en-IN" sz="3300" b="1" i="0" u="none" dirty="0">
                <a:solidFill>
                  <a:srgbClr val="0F172A"/>
                </a:solidFill>
                <a:latin typeface="Space Grotesk"/>
              </a:rPr>
              <a:t>.m.</a:t>
            </a:r>
            <a:r>
              <a:rPr sz="3300" b="1" i="0" u="none" dirty="0">
                <a:solidFill>
                  <a:srgbClr val="0F172A"/>
                </a:solidFill>
                <a:latin typeface="Space Grotesk"/>
              </a:rPr>
              <a:t> &amp; 5</a:t>
            </a:r>
            <a:r>
              <a:rPr lang="en-IN" sz="330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300" b="1" i="0" u="none" dirty="0">
                <a:solidFill>
                  <a:srgbClr val="0F172A"/>
                </a:solidFill>
                <a:latin typeface="Space Grotesk"/>
              </a:rPr>
              <a:t>p</a:t>
            </a:r>
            <a:r>
              <a:rPr lang="en-IN" sz="3300" b="1" i="0" u="none" dirty="0">
                <a:solidFill>
                  <a:srgbClr val="0F172A"/>
                </a:solidFill>
                <a:latin typeface="Space Grotesk"/>
              </a:rPr>
              <a:t>.m.</a:t>
            </a:r>
            <a:endParaRPr sz="33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97775" y="4210050"/>
            <a:ext cx="174567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DC2626"/>
                </a:solidFill>
                <a:latin typeface="Plus Jakarta Sans"/>
              </a:rPr>
              <a:t>Casual Peak: </a:t>
            </a:r>
            <a:r>
              <a:rPr sz="1050" b="1" i="0" u="none" dirty="0">
                <a:solidFill>
                  <a:srgbClr val="DC2626"/>
                </a:solidFill>
                <a:latin typeface="Plus Jakarta Sans"/>
              </a:rPr>
              <a:t>5:00 PM (17h</a:t>
            </a:r>
            <a:r>
              <a:rPr lang="en-IN" sz="1050" b="1" i="0" u="none" dirty="0">
                <a:solidFill>
                  <a:srgbClr val="DC2626"/>
                </a:solidFill>
                <a:latin typeface="Plus Jakarta Sans"/>
              </a:rPr>
              <a:t>ours</a:t>
            </a:r>
            <a:r>
              <a:rPr sz="1050" b="1" i="0" u="none" dirty="0">
                <a:solidFill>
                  <a:srgbClr val="DC2626"/>
                </a:solidFill>
                <a:latin typeface="Plus Jakarta Sans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7775" y="4438650"/>
            <a:ext cx="29082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Members </a:t>
            </a:r>
            <a:r>
              <a:rPr lang="en-IN" sz="1125" dirty="0">
                <a:solidFill>
                  <a:srgbClr val="475569"/>
                </a:solidFill>
                <a:latin typeface="Plus Jakarta Sans"/>
              </a:rPr>
              <a:t>shows morning and evening surge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; casual volume shows single late-afternoon surge.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22790" y="1998612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09536" y="3285161"/>
            <a:ext cx="4259609" cy="10837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22790" y="1998612"/>
            <a:ext cx="38100" cy="108376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41840" y="3314362"/>
            <a:ext cx="38100" cy="108376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604962"/>
            <a:ext cx="34480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GEOGRAPHIC 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Casual Station Hotspots &amp; Shoreline Density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490" y="2189112"/>
            <a:ext cx="11273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Navy Pier </a:t>
            </a:r>
            <a:r>
              <a:rPr lang="en-IN" sz="1350" b="1" dirty="0">
                <a:solidFill>
                  <a:srgbClr val="0F172A"/>
                </a:solidFill>
                <a:latin typeface="Plus Jakarta Sans"/>
              </a:rPr>
              <a:t>Leads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490" y="2465337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Generates 54.8K starts and 56.0K ends, outperforming all other casual hubs.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491" y="3377710"/>
            <a:ext cx="46025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Symmetrical Trip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6669" y="3689334"/>
            <a:ext cx="385955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Start and end station rankings align closely, indicating round-trip</a:t>
            </a:r>
            <a:r>
              <a:rPr lang="en-IN" sz="1200" b="0" i="0" u="none" dirty="0">
                <a:solidFill>
                  <a:srgbClr val="475569"/>
                </a:solidFill>
                <a:latin typeface="Plus Jakarta Sans"/>
              </a:rPr>
              <a:t> routes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8E8F33-F8A8-2EBA-5669-8360032D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5" y="1613424"/>
            <a:ext cx="6408000" cy="4313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95600"/>
            <a:ext cx="133350" cy="171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95600"/>
            <a:ext cx="133350" cy="1714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611472"/>
              </p:ext>
            </p:extLst>
          </p:nvPr>
        </p:nvGraphicFramePr>
        <p:xfrm>
          <a:off x="685800" y="2176462"/>
          <a:ext cx="10185400" cy="3371850"/>
        </p:xfrm>
        <a:graphic>
          <a:graphicData uri="http://schemas.openxmlformats.org/drawingml/2006/table">
            <a:tbl>
              <a:tblPr/>
              <a:tblGrid>
                <a:gridCol w="5738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Station 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Start Rides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End Rides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Navy Pier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C2626"/>
                          </a:solidFill>
                          <a:latin typeface="Space Grotesk"/>
                        </a:rPr>
                        <a:t>54.8K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C2626"/>
                          </a:solidFill>
                          <a:latin typeface="Space Grotesk"/>
                        </a:rPr>
                        <a:t>56.0K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DuSable Lake Shore Dr &amp; Monroe 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32.5K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29.8K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Michigan Ave &amp; Oak 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22.6K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22.9K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DuSable Lake Shore Dr &amp; North Blvd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19.7K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21.8K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Millennium Park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18.3K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Space Grotesk"/>
                        </a:rPr>
                        <a:t>19.1K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TOP 5 CASUAL STATIONS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52475"/>
            <a:ext cx="11506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Origin &amp; Destination Volume Leaderboard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28887"/>
            <a:ext cx="5238750" cy="2705100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528887"/>
            <a:ext cx="5238750" cy="2705100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8225" y="4024312"/>
            <a:ext cx="45339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8225" y="4786312"/>
            <a:ext cx="45339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19875" y="4024312"/>
            <a:ext cx="45339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19875" y="4786312"/>
            <a:ext cx="45339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8225" y="4024312"/>
            <a:ext cx="3242964" cy="952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8225" y="4786312"/>
            <a:ext cx="3042195" cy="952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19875" y="4024312"/>
            <a:ext cx="1491555" cy="952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19875" y="4786312"/>
            <a:ext cx="1290786" cy="952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890837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2890837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" y="3005137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362" y="3005137"/>
            <a:ext cx="2381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EQUIPMENT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52475"/>
            <a:ext cx="441364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Clear Preference for Electric Bikes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671887"/>
            <a:ext cx="12668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Casual Riders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2975" y="3586162"/>
            <a:ext cx="11049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DC2626"/>
                </a:solidFill>
                <a:latin typeface="Space Grotesk"/>
              </a:rPr>
              <a:t>71.53%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4433887"/>
            <a:ext cx="152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Annual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2025" y="4348162"/>
            <a:ext cx="10858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67.10%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3671887"/>
            <a:ext cx="152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Annual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7475" y="3586162"/>
            <a:ext cx="11620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32.90%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75" y="4433887"/>
            <a:ext cx="12668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Casual Riders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4348162"/>
            <a:ext cx="11334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DC2626"/>
                </a:solidFill>
                <a:latin typeface="Space Grotesk"/>
              </a:rPr>
              <a:t>28.47%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0675" y="2881312"/>
            <a:ext cx="312539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Electric Bikes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0675" y="3148012"/>
            <a:ext cx="2976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Dominant across both rider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2325" y="2881312"/>
            <a:ext cx="216277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Classic Bikes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757487"/>
            <a:ext cx="5257800" cy="1733550"/>
          </a:xfrm>
          <a:prstGeom prst="roundRect">
            <a:avLst>
              <a:gd name="adj" fmla="val 6779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48400" y="2757487"/>
            <a:ext cx="5257800" cy="173355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100387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100387"/>
            <a:ext cx="2095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752475"/>
            <a:ext cx="297991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Cyclistic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Rider 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925" y="3071812"/>
            <a:ext cx="108363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991B1B"/>
                </a:solidFill>
                <a:latin typeface="Plus Jakarta Sans"/>
              </a:rPr>
              <a:t>Casual </a:t>
            </a:r>
            <a:r>
              <a:rPr lang="en-IN" sz="1650" b="1" dirty="0">
                <a:solidFill>
                  <a:srgbClr val="991B1B"/>
                </a:solidFill>
                <a:latin typeface="Plus Jakarta Sans"/>
              </a:rPr>
              <a:t>Rider</a:t>
            </a:r>
            <a:endParaRPr sz="1650" b="1" i="0" u="none" dirty="0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125" y="3490912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1D1D"/>
                </a:solidFill>
                <a:latin typeface="Plus Jakarta Sans"/>
              </a:rPr>
              <a:t>Timing:</a:t>
            </a:r>
            <a:r>
              <a:rPr sz="1200" b="0" i="0" u="none">
                <a:solidFill>
                  <a:srgbClr val="7F1D1D"/>
                </a:solidFill>
                <a:latin typeface="Plus Jakarta Sans"/>
              </a:rPr>
              <a:t> Weekend peaks (21.26% on Sat)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24287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1D1D"/>
                </a:solidFill>
                <a:latin typeface="Plus Jakarta Sans"/>
              </a:rPr>
              <a:t>Duration:</a:t>
            </a:r>
            <a:r>
              <a:rPr sz="1200" b="0" i="0" u="none">
                <a:solidFill>
                  <a:srgbClr val="7F1D1D"/>
                </a:solidFill>
                <a:latin typeface="Plus Jakarta Sans"/>
              </a:rPr>
              <a:t> Longer rides (21.2 min average)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3071812"/>
            <a:ext cx="75661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650" b="1" i="0" u="none" dirty="0">
                <a:solidFill>
                  <a:srgbClr val="0F172A"/>
                </a:solidFill>
                <a:latin typeface="Plus Jakarta Sans"/>
              </a:rPr>
              <a:t>Member</a:t>
            </a:r>
            <a:endParaRPr sz="16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2725" y="3490912"/>
            <a:ext cx="5629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Timing: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Weekday peaks at 8 AM and 5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824287"/>
            <a:ext cx="5629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Duration: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Shorter rides (12.4 min average)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38412"/>
            <a:ext cx="3454449" cy="2724150"/>
          </a:xfrm>
          <a:prstGeom prst="roundRect">
            <a:avLst>
              <a:gd name="adj" fmla="val 5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657475"/>
            <a:ext cx="3454449" cy="2486025"/>
          </a:xfrm>
          <a:prstGeom prst="roundRect">
            <a:avLst>
              <a:gd name="adj" fmla="val 6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657475"/>
            <a:ext cx="3454449" cy="2486025"/>
          </a:xfrm>
          <a:prstGeom prst="roundRect">
            <a:avLst>
              <a:gd name="adj" fmla="val 6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8527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024" y="29718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074" y="29718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976562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662" y="3095625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711" y="3095625"/>
            <a:ext cx="1619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334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DATA-DRIVEN ACTION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52475"/>
            <a:ext cx="115062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Strategic Recommendations for Rider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3500437"/>
            <a:ext cx="318711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Peak-Window Summer Campaigns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4090987"/>
            <a:ext cx="30353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Execute targeted promotions during July and August on weekends between 15:00 and 18:00, capturing casual riders at their absolute peak usage volume.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024" y="3619500"/>
            <a:ext cx="173560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Navy Pier Promotions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024" y="3971925"/>
            <a:ext cx="3035349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Deploy </a:t>
            </a:r>
            <a:r>
              <a:rPr lang="en-IN" sz="1125" dirty="0">
                <a:solidFill>
                  <a:srgbClr val="475569"/>
                </a:solidFill>
                <a:latin typeface="Plus Jakarta Sans"/>
              </a:rPr>
              <a:t>on-site promotion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campaigns at Navy Pier to leverage the heavy concentration of casual rider starts (54.8K) and ends (56.0K).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9074" y="3619500"/>
            <a:ext cx="385888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Extended-Trip Value 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9074" y="3971925"/>
            <a:ext cx="30353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Highlight membership </a:t>
            </a:r>
            <a:r>
              <a:rPr lang="en-IN" sz="1125" b="0" i="0" u="none" dirty="0">
                <a:solidFill>
                  <a:srgbClr val="475569"/>
                </a:solidFill>
                <a:latin typeface="Plus Jakarta Sans"/>
              </a:rPr>
              <a:t>value or convenience 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for longer durations, directly appealing to casual riders whose trips average 21.2 minutes vs 12.4 for members.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7662" y="4386262"/>
            <a:ext cx="3876675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57662" y="4386262"/>
            <a:ext cx="38766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2024062"/>
            <a:ext cx="5715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837" y="2185987"/>
            <a:ext cx="3143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162" y="4681537"/>
            <a:ext cx="1905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2019" y="2862262"/>
            <a:ext cx="3687960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2750" y="3681412"/>
            <a:ext cx="6286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Cyclistic Bike Share Data Analysis &amp; Conversion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4116" y="4672012"/>
            <a:ext cx="2155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4A3B8"/>
                </a:solidFill>
                <a:latin typeface="Space Grotesk"/>
              </a:rPr>
              <a:t>Member Conversion Focus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39</TotalTime>
  <Words>565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Space Grotesk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 Bajaj</dc:creator>
  <cp:keywords/>
  <dc:description>generated using python-pptx</dc:description>
  <cp:lastModifiedBy>Raghav Bajaj</cp:lastModifiedBy>
  <cp:revision>2</cp:revision>
  <dcterms:created xsi:type="dcterms:W3CDTF">2013-01-27T09:14:16Z</dcterms:created>
  <dcterms:modified xsi:type="dcterms:W3CDTF">2026-09-17T17:59:56Z</dcterms:modified>
  <cp:category/>
</cp:coreProperties>
</file>